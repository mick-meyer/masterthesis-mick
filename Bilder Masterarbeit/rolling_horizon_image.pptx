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A047"/>
    <a:srgbClr val="0C74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93"/>
    <p:restoredTop sz="94761"/>
  </p:normalViewPr>
  <p:slideViewPr>
    <p:cSldViewPr snapToGrid="0">
      <p:cViewPr varScale="1">
        <p:scale>
          <a:sx n="105" d="100"/>
          <a:sy n="105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787D8-9E19-5FA1-275B-7FB44875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B410DF-9C4C-D413-2E0E-C0C2773CB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CD2A49-443B-2A7D-DC6B-A4D25E3D6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91AC1B-6E1D-1723-49B0-89A92B848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2AAB46-3B79-EBB5-8DD4-5552ADA1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14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9905F-DB85-562A-6EDE-902728FF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0493AD-C67E-166F-94A6-DDC4F2920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339F0B-998C-1D18-E40C-89FFC522B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64B2AC-B127-AA57-13BD-EDBED881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7BAEAF-55CC-EC00-8272-614C1D3D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81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951B7-4A4C-B06B-EA4C-F97B8176C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19A03A-A057-EF94-CE2C-88114F514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BF0E21-834E-7A71-DFA2-56BF6479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3082B5-16E0-C334-4A75-0391FA16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34C0A0-D748-8E87-75FA-91F951C4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1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B038BE-BBC9-3BE5-1040-1F7C0963A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33AEE4-1145-6525-EC6A-343292EA5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2100DC-53E9-5BD3-1B0F-7AA0DB801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6106AA-853D-5926-21D1-62864A1E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7A6EFF-3472-C619-B292-B49A77C7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97F230-1DA3-1A63-F85F-F127116C7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378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02DBC3-6D24-17FC-04F9-8F41CCC5D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CD75E3-0DE7-FE14-FDE3-72E6500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0FC66D-B976-A650-E8EE-051F49797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87F2F3-A9EC-842E-348F-2114051D7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00AF147-2F44-CFC3-2314-4B1A162230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E9FDE2-137C-B981-5921-A1E4B3D8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6F7BF90-A5B4-D50E-53B4-97D71CA1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3FCC037-88F7-4218-93C2-A883205E3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744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BB120E-D633-FE37-B4FF-D0A4C820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BE7DE57-D7D8-5E18-8674-50C4528A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3CB88D-F238-2146-0CCC-A3DD10F9B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601EBF-5B24-03D4-BBC7-307657A4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52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EB60AA-41B6-5741-4C88-3F73F554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E52AAE-1DE2-FCB4-0A7E-4034A46AF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73F7B7-4AEC-C29C-9F4B-9B61B23C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9536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FB5AAA-DD2D-2F51-EC17-C0F435774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74AC56-27CC-1E58-F824-D149B2F3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DD74279-BE79-389A-309F-7117DAC8A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FA20F3-9F2C-A4C3-2AFC-C9BEFC148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11860B-4CC0-9FCE-AA45-C49F6047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211C1C-DCD6-588E-050B-BD81923BF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919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ACEF4-1DB1-4B45-A0D5-E1881E554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971CDC0-94FB-A0AD-1FBD-F58DBE589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38575E-9619-F266-CB44-D2350B6CE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6EC67C-59E5-D684-891D-EC3A9709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A09ACB-5A90-B6E1-28A0-2FCCE048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CC8A82-CC7C-CF4A-A5DB-0DA163AF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2234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7C6A8B-82EE-58A2-A7F8-859E36967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A8C785-6F3C-4770-7271-109FDC001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2936A3-B049-A044-DB60-9ADC879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B36857-A830-B859-2C62-4C5CC40A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EDB66D-7178-8A3D-1172-16526231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349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3045E76-08ED-9773-649C-2521810E2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F1AB4D-41EF-56F6-A4AC-3F5EF658C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16166F-634F-78C1-C277-5824AFFE3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39175F-0CBF-408D-79FA-BC5F032F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5D2AB3-002D-236A-EB65-98D8FABA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231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65ACB1-4A8C-A10D-63D3-F2A62CF00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C08F1-3DBE-30EA-4315-99F031CFD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A25951-44C8-DD15-1AE1-4471D2584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9994E-916B-3C4F-BE24-B1CBF651AE6B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CAEBBE-3DCC-BF9E-02BD-4EC1DF860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BCE546-E079-86E5-02F1-49E191417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9BBBD-61D2-1749-A702-04C8D3F4E0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2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F2B571D3-F31E-DAE6-7C8D-859172509CE8}"/>
              </a:ext>
            </a:extLst>
          </p:cNvPr>
          <p:cNvCxnSpPr/>
          <p:nvPr/>
        </p:nvCxnSpPr>
        <p:spPr>
          <a:xfrm flipV="1">
            <a:off x="5195454" y="2867891"/>
            <a:ext cx="0" cy="12469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AB51407E-E726-827C-39FC-E5438D570302}"/>
              </a:ext>
            </a:extLst>
          </p:cNvPr>
          <p:cNvCxnSpPr/>
          <p:nvPr/>
        </p:nvCxnSpPr>
        <p:spPr>
          <a:xfrm flipV="1">
            <a:off x="4475018" y="2992582"/>
            <a:ext cx="0" cy="12469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700A4B65-FFEE-69AE-6861-FC69A1E5A717}"/>
              </a:ext>
            </a:extLst>
          </p:cNvPr>
          <p:cNvCxnSpPr/>
          <p:nvPr/>
        </p:nvCxnSpPr>
        <p:spPr>
          <a:xfrm flipV="1">
            <a:off x="7398326" y="2999509"/>
            <a:ext cx="0" cy="12469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9352CD49-964B-D59B-A038-75F35A0547CA}"/>
              </a:ext>
            </a:extLst>
          </p:cNvPr>
          <p:cNvCxnSpPr/>
          <p:nvPr/>
        </p:nvCxnSpPr>
        <p:spPr>
          <a:xfrm flipV="1">
            <a:off x="6664036" y="2860963"/>
            <a:ext cx="0" cy="12469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Gerade Verbindung 27">
            <a:extLst>
              <a:ext uri="{FF2B5EF4-FFF2-40B4-BE49-F238E27FC236}">
                <a16:creationId xmlns:a16="http://schemas.microsoft.com/office/drawing/2014/main" id="{D3B34C13-49F3-4AF4-7774-5478CCAAB5FF}"/>
              </a:ext>
            </a:extLst>
          </p:cNvPr>
          <p:cNvCxnSpPr/>
          <p:nvPr/>
        </p:nvCxnSpPr>
        <p:spPr>
          <a:xfrm flipV="1">
            <a:off x="9587345" y="2874817"/>
            <a:ext cx="0" cy="12469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69BC83A3-C3C1-CA99-332D-865ACC5BE6A4}"/>
              </a:ext>
            </a:extLst>
          </p:cNvPr>
          <p:cNvCxnSpPr/>
          <p:nvPr/>
        </p:nvCxnSpPr>
        <p:spPr>
          <a:xfrm flipV="1">
            <a:off x="8853053" y="3006437"/>
            <a:ext cx="0" cy="12469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2BDBC18B-87FD-3E7E-BCC5-3FCD14697FA3}"/>
              </a:ext>
            </a:extLst>
          </p:cNvPr>
          <p:cNvSpPr/>
          <p:nvPr/>
        </p:nvSpPr>
        <p:spPr>
          <a:xfrm>
            <a:off x="5680364" y="2660073"/>
            <a:ext cx="526472" cy="2008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51CC8A6-9AFD-CC28-0A0F-E96B59EB6A8A}"/>
              </a:ext>
            </a:extLst>
          </p:cNvPr>
          <p:cNvSpPr txBox="1"/>
          <p:nvPr/>
        </p:nvSpPr>
        <p:spPr>
          <a:xfrm>
            <a:off x="5627602" y="2985654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rgbClr val="47A047"/>
                </a:solidFill>
              </a:rPr>
              <a:t>Horizon</a:t>
            </a:r>
            <a:endParaRPr lang="de-DE" dirty="0">
              <a:solidFill>
                <a:srgbClr val="47A047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B17994F-DA18-200E-F2ED-DDFB6230B9FD}"/>
              </a:ext>
            </a:extLst>
          </p:cNvPr>
          <p:cNvSpPr txBox="1"/>
          <p:nvPr/>
        </p:nvSpPr>
        <p:spPr>
          <a:xfrm>
            <a:off x="9990454" y="2985654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rgbClr val="47A047"/>
                </a:solidFill>
              </a:rPr>
              <a:t>Horizon</a:t>
            </a:r>
            <a:endParaRPr lang="de-DE" dirty="0">
              <a:solidFill>
                <a:srgbClr val="47A047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6CD1F34-A2D9-02FA-CCA6-8A9872731F24}"/>
              </a:ext>
            </a:extLst>
          </p:cNvPr>
          <p:cNvSpPr/>
          <p:nvPr/>
        </p:nvSpPr>
        <p:spPr>
          <a:xfrm>
            <a:off x="10058398" y="2673927"/>
            <a:ext cx="526472" cy="2008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729C688-CE92-8003-FB28-B012AF05C3A7}"/>
              </a:ext>
            </a:extLst>
          </p:cNvPr>
          <p:cNvSpPr/>
          <p:nvPr/>
        </p:nvSpPr>
        <p:spPr>
          <a:xfrm>
            <a:off x="7869381" y="2673927"/>
            <a:ext cx="526472" cy="2008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84CAC06-23D7-993B-67A6-ADA6571B53C5}"/>
              </a:ext>
            </a:extLst>
          </p:cNvPr>
          <p:cNvSpPr/>
          <p:nvPr/>
        </p:nvSpPr>
        <p:spPr>
          <a:xfrm>
            <a:off x="3491344" y="2660073"/>
            <a:ext cx="526472" cy="2008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CCDE82A4-C8D2-103A-5D32-2478976A69D8}"/>
              </a:ext>
            </a:extLst>
          </p:cNvPr>
          <p:cNvSpPr txBox="1"/>
          <p:nvPr/>
        </p:nvSpPr>
        <p:spPr>
          <a:xfrm>
            <a:off x="3423399" y="2710191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rgbClr val="47A047"/>
                </a:solidFill>
              </a:rPr>
              <a:t>Horizon</a:t>
            </a:r>
            <a:endParaRPr lang="de-DE" dirty="0">
              <a:solidFill>
                <a:srgbClr val="47A047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4E6F965-F904-A311-3DB0-08DDB58B91E3}"/>
              </a:ext>
            </a:extLst>
          </p:cNvPr>
          <p:cNvSpPr txBox="1"/>
          <p:nvPr/>
        </p:nvSpPr>
        <p:spPr>
          <a:xfrm>
            <a:off x="7718312" y="2715490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rgbClr val="47A047"/>
                </a:solidFill>
              </a:rPr>
              <a:t>Horizon</a:t>
            </a:r>
            <a:endParaRPr lang="de-DE" dirty="0">
              <a:solidFill>
                <a:srgbClr val="47A047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BE7AFA6-6658-6FB3-2F31-86A56C63E7EA}"/>
              </a:ext>
            </a:extLst>
          </p:cNvPr>
          <p:cNvSpPr/>
          <p:nvPr/>
        </p:nvSpPr>
        <p:spPr>
          <a:xfrm>
            <a:off x="3582065" y="374072"/>
            <a:ext cx="6163941" cy="471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6C8AA51-65D4-7EDA-21B4-F8EED24F978B}"/>
              </a:ext>
            </a:extLst>
          </p:cNvPr>
          <p:cNvSpPr txBox="1"/>
          <p:nvPr/>
        </p:nvSpPr>
        <p:spPr>
          <a:xfrm>
            <a:off x="5118099" y="455710"/>
            <a:ext cx="3091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Perfect Foresight vs. Myopic Foresight</a:t>
            </a: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88B5E8D7-D5A7-C5E6-653A-415E763AB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525" y="6320655"/>
            <a:ext cx="8943109" cy="371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1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6685978-36F8-8AC3-5F6E-1BA0312EE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51102"/>
            <a:ext cx="7772400" cy="320039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4161A6C-BDC8-0D5C-1ABC-6B10196AC9F5}"/>
              </a:ext>
            </a:extLst>
          </p:cNvPr>
          <p:cNvSpPr txBox="1"/>
          <p:nvPr/>
        </p:nvSpPr>
        <p:spPr>
          <a:xfrm>
            <a:off x="4055540" y="2891011"/>
            <a:ext cx="5757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47A047"/>
                </a:solidFill>
              </a:rPr>
              <a:t>Horizon</a:t>
            </a:r>
            <a:endParaRPr lang="de-DE" dirty="0">
              <a:solidFill>
                <a:srgbClr val="47A047"/>
              </a:solidFill>
            </a:endParaRP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AD562E2C-D8EE-5D06-CEA8-32BA763924F9}"/>
              </a:ext>
            </a:extLst>
          </p:cNvPr>
          <p:cNvCxnSpPr>
            <a:cxnSpLocks/>
          </p:cNvCxnSpPr>
          <p:nvPr/>
        </p:nvCxnSpPr>
        <p:spPr>
          <a:xfrm flipV="1">
            <a:off x="5400569" y="2988527"/>
            <a:ext cx="0" cy="9824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597DE9DF-980E-C183-C1C9-45607492553E}"/>
              </a:ext>
            </a:extLst>
          </p:cNvPr>
          <p:cNvCxnSpPr>
            <a:cxnSpLocks/>
          </p:cNvCxnSpPr>
          <p:nvPr/>
        </p:nvCxnSpPr>
        <p:spPr>
          <a:xfrm flipV="1">
            <a:off x="4850442" y="3097922"/>
            <a:ext cx="0" cy="9824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C9F3F25-606C-2278-E98D-8790A260BE69}"/>
              </a:ext>
            </a:extLst>
          </p:cNvPr>
          <p:cNvCxnSpPr>
            <a:cxnSpLocks/>
          </p:cNvCxnSpPr>
          <p:nvPr/>
        </p:nvCxnSpPr>
        <p:spPr>
          <a:xfrm flipV="1">
            <a:off x="7099272" y="3097922"/>
            <a:ext cx="0" cy="9824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FC5A0291-B010-7AFB-EFBD-2EF2647E7837}"/>
              </a:ext>
            </a:extLst>
          </p:cNvPr>
          <p:cNvCxnSpPr>
            <a:cxnSpLocks/>
          </p:cNvCxnSpPr>
          <p:nvPr/>
        </p:nvCxnSpPr>
        <p:spPr>
          <a:xfrm flipV="1">
            <a:off x="6537993" y="2999678"/>
            <a:ext cx="0" cy="9824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63181A7F-6A31-7F12-ED89-F712EE1D1519}"/>
              </a:ext>
            </a:extLst>
          </p:cNvPr>
          <p:cNvCxnSpPr>
            <a:cxnSpLocks/>
          </p:cNvCxnSpPr>
          <p:nvPr/>
        </p:nvCxnSpPr>
        <p:spPr>
          <a:xfrm flipV="1">
            <a:off x="8786822" y="2999678"/>
            <a:ext cx="0" cy="9824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840E06B7-31A8-21B8-707F-968CD518A574}"/>
              </a:ext>
            </a:extLst>
          </p:cNvPr>
          <p:cNvCxnSpPr>
            <a:cxnSpLocks/>
          </p:cNvCxnSpPr>
          <p:nvPr/>
        </p:nvCxnSpPr>
        <p:spPr>
          <a:xfrm flipV="1">
            <a:off x="8225544" y="3086771"/>
            <a:ext cx="0" cy="9824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13905AED-2C7E-ED40-7B65-C9E809C2447D}"/>
              </a:ext>
            </a:extLst>
          </p:cNvPr>
          <p:cNvSpPr txBox="1"/>
          <p:nvPr/>
        </p:nvSpPr>
        <p:spPr>
          <a:xfrm>
            <a:off x="5669509" y="3051422"/>
            <a:ext cx="5757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47A047"/>
                </a:solidFill>
              </a:rPr>
              <a:t>Horizon</a:t>
            </a:r>
            <a:endParaRPr lang="de-DE" sz="1600" dirty="0">
              <a:solidFill>
                <a:srgbClr val="47A047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2B3E61A-6F26-1E5B-E6C2-B68994775322}"/>
              </a:ext>
            </a:extLst>
          </p:cNvPr>
          <p:cNvSpPr txBox="1"/>
          <p:nvPr/>
        </p:nvSpPr>
        <p:spPr>
          <a:xfrm>
            <a:off x="7363943" y="2906173"/>
            <a:ext cx="6367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solidFill>
                  <a:srgbClr val="47A047"/>
                </a:solidFill>
              </a:rPr>
              <a:t>Horizon</a:t>
            </a:r>
            <a:endParaRPr lang="de-DE" dirty="0">
              <a:solidFill>
                <a:srgbClr val="47A047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56A98B-08EC-580B-F542-2D8ABDC93784}"/>
              </a:ext>
            </a:extLst>
          </p:cNvPr>
          <p:cNvSpPr txBox="1"/>
          <p:nvPr/>
        </p:nvSpPr>
        <p:spPr>
          <a:xfrm>
            <a:off x="9000840" y="3048800"/>
            <a:ext cx="5757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47A047"/>
                </a:solidFill>
              </a:rPr>
              <a:t>Horizon</a:t>
            </a:r>
            <a:endParaRPr lang="de-DE" sz="1600" dirty="0">
              <a:solidFill>
                <a:srgbClr val="47A0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76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indenergie - Kostenlose Ökologie und umwelt-Icons">
            <a:extLst>
              <a:ext uri="{FF2B5EF4-FFF2-40B4-BE49-F238E27FC236}">
                <a16:creationId xmlns:a16="http://schemas.microsoft.com/office/drawing/2014/main" id="{3C2A91D7-E347-50B8-E4C5-1ACA15A86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926" y="2707011"/>
            <a:ext cx="1257768" cy="125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7038498-AAC4-A313-50B4-042619CF7E09}"/>
              </a:ext>
            </a:extLst>
          </p:cNvPr>
          <p:cNvSpPr txBox="1"/>
          <p:nvPr/>
        </p:nvSpPr>
        <p:spPr>
          <a:xfrm>
            <a:off x="767961" y="4210867"/>
            <a:ext cx="1872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  <a:t>1. Wind and Solar </a:t>
            </a:r>
            <a:b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  <a:t>Forecasts</a:t>
            </a:r>
          </a:p>
        </p:txBody>
      </p:sp>
      <p:pic>
        <p:nvPicPr>
          <p:cNvPr id="1030" name="Picture 6" descr="Elektrizität - Kostenlose technologie-Icons">
            <a:extLst>
              <a:ext uri="{FF2B5EF4-FFF2-40B4-BE49-F238E27FC236}">
                <a16:creationId xmlns:a16="http://schemas.microsoft.com/office/drawing/2014/main" id="{61388805-4A53-3436-7203-B49267B5A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913" y="2725257"/>
            <a:ext cx="665992" cy="66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ice tag - Free commerce and shopping icons">
            <a:extLst>
              <a:ext uri="{FF2B5EF4-FFF2-40B4-BE49-F238E27FC236}">
                <a16:creationId xmlns:a16="http://schemas.microsoft.com/office/drawing/2014/main" id="{A0CB45FE-7A0D-F58E-1E2D-71286147E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555" y="3280540"/>
            <a:ext cx="665992" cy="66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C420812-E551-F844-9587-3A994BFE9441}"/>
              </a:ext>
            </a:extLst>
          </p:cNvPr>
          <p:cNvSpPr txBox="1"/>
          <p:nvPr/>
        </p:nvSpPr>
        <p:spPr>
          <a:xfrm>
            <a:off x="3608598" y="4210866"/>
            <a:ext cx="1872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  <a:t>2. Electricity Price </a:t>
            </a:r>
          </a:p>
          <a:p>
            <a:pPr algn="ctr"/>
            <a: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</a:p>
        </p:txBody>
      </p:sp>
      <p:pic>
        <p:nvPicPr>
          <p:cNvPr id="1034" name="Picture 10" descr="Zahnrad - Kostenlose industrie-Icons">
            <a:extLst>
              <a:ext uri="{FF2B5EF4-FFF2-40B4-BE49-F238E27FC236}">
                <a16:creationId xmlns:a16="http://schemas.microsoft.com/office/drawing/2014/main" id="{856BC705-FA1F-3C96-C3D8-174E9B77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027" y="2707009"/>
            <a:ext cx="1299350" cy="129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A5028A9-C3AC-D326-5D0F-1081FD74019E}"/>
              </a:ext>
            </a:extLst>
          </p:cNvPr>
          <p:cNvSpPr txBox="1"/>
          <p:nvPr/>
        </p:nvSpPr>
        <p:spPr>
          <a:xfrm>
            <a:off x="6016326" y="4210866"/>
            <a:ext cx="2637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  <a:t>3. Stochastic Battery </a:t>
            </a:r>
            <a:b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  <a:t>Storage Profit Optimization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0996664-FB8A-8022-3F3D-D2F36D85CAC8}"/>
              </a:ext>
            </a:extLst>
          </p:cNvPr>
          <p:cNvCxnSpPr>
            <a:cxnSpLocks/>
          </p:cNvCxnSpPr>
          <p:nvPr/>
        </p:nvCxnSpPr>
        <p:spPr>
          <a:xfrm>
            <a:off x="2690283" y="3356426"/>
            <a:ext cx="8481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14872F4-4C67-1DD1-91A1-DA37332EF6BD}"/>
              </a:ext>
            </a:extLst>
          </p:cNvPr>
          <p:cNvCxnSpPr>
            <a:cxnSpLocks/>
          </p:cNvCxnSpPr>
          <p:nvPr/>
        </p:nvCxnSpPr>
        <p:spPr>
          <a:xfrm>
            <a:off x="5452244" y="3391249"/>
            <a:ext cx="8601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99B78A58-5D4C-DD57-CD29-0B99531B03FD}"/>
              </a:ext>
            </a:extLst>
          </p:cNvPr>
          <p:cNvCxnSpPr>
            <a:cxnSpLocks/>
          </p:cNvCxnSpPr>
          <p:nvPr/>
        </p:nvCxnSpPr>
        <p:spPr>
          <a:xfrm>
            <a:off x="8357545" y="3349870"/>
            <a:ext cx="8601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36" name="Picture 12" descr="16 Tausend Battery Storage Icons lizenzfreie Bilder, Stockfotos und  Aufnahmen | Shutterstock">
            <a:extLst>
              <a:ext uri="{FF2B5EF4-FFF2-40B4-BE49-F238E27FC236}">
                <a16:creationId xmlns:a16="http://schemas.microsoft.com/office/drawing/2014/main" id="{3E8C5C38-E598-7F35-9D52-08BF81089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464" y="3109479"/>
            <a:ext cx="1026358" cy="102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Zahnrad - Kostenlose industrie-Icons">
            <a:extLst>
              <a:ext uri="{FF2B5EF4-FFF2-40B4-BE49-F238E27FC236}">
                <a16:creationId xmlns:a16="http://schemas.microsoft.com/office/drawing/2014/main" id="{DC0D0DD6-0EE6-338D-4961-6F79A9251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495" y="2707009"/>
            <a:ext cx="684240" cy="684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DD45F7BD-052D-F85B-6E2F-5E15A0A6435A}"/>
              </a:ext>
            </a:extLst>
          </p:cNvPr>
          <p:cNvSpPr txBox="1"/>
          <p:nvPr/>
        </p:nvSpPr>
        <p:spPr>
          <a:xfrm>
            <a:off x="9083981" y="4210865"/>
            <a:ext cx="2433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  <a:t>4. Re-Implementation of </a:t>
            </a:r>
          </a:p>
          <a:p>
            <a:pPr algn="ctr"/>
            <a:r>
              <a:rPr lang="en-GB" sz="1600" noProof="1">
                <a:latin typeface="Arial" panose="020B0604020202020204" pitchFamily="34" charset="0"/>
                <a:cs typeface="Arial" panose="020B0604020202020204" pitchFamily="34" charset="0"/>
              </a:rPr>
              <a:t>the Operating Strategy</a:t>
            </a:r>
          </a:p>
        </p:txBody>
      </p:sp>
    </p:spTree>
    <p:extLst>
      <p:ext uri="{BB962C8B-B14F-4D97-AF65-F5344CB8AC3E}">
        <p14:creationId xmlns:p14="http://schemas.microsoft.com/office/powerpoint/2010/main" val="289928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Macintosh PowerPoint</Application>
  <PresentationFormat>Breitbild</PresentationFormat>
  <Paragraphs>15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Mick Meyer</dc:creator>
  <cp:lastModifiedBy>Mick Meyer</cp:lastModifiedBy>
  <cp:revision>4</cp:revision>
  <dcterms:created xsi:type="dcterms:W3CDTF">2025-09-30T09:00:44Z</dcterms:created>
  <dcterms:modified xsi:type="dcterms:W3CDTF">2025-10-15T16:29:24Z</dcterms:modified>
</cp:coreProperties>
</file>